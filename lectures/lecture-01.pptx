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8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第一章 信息素养与创新能力 · 第一节/第二节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01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信息素养与创新能力（上）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C9BAEDD-D98C-4FB4-B9EB-18D88232F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627" y="377687"/>
            <a:ext cx="7120745" cy="610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93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9122F1E-E0E6-4B9B-B44E-863982141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703" y="1280271"/>
            <a:ext cx="6858594" cy="541981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1DC8840-B65C-4735-9BDA-154AB1235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713" y="0"/>
            <a:ext cx="4962574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04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教材位置：第一章 信息素养与创新能力（第一节、第二节）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本讲范围：信息素养 → 信息素养培养 → 创新能力 → 信息资源共享 → 知识产权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导入问题：面对海量医学信息，如何判断该信什么、去哪里找、怎么用？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先行知识：无特殊要求，从中学信息环境过渡到大学学术信息环境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理解信息素养概念及信息、知识、情报、文献的关系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掌握信息素养评价、培养及医学生信息素养要求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理解信息资源共享原则及知识产权保护内容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重点一：信息素养的构成、评价与培养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重点二：医学生信息素养要求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重点三：信息资源共享原则与知识产权保护措施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难点一：信息、知识、情报、文献关系的辨析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难点二：信息素养与创新能力关系的理解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难点三：信息资源共享与知识产权保护的综合理解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本讲内容提纲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一、信息素养：概念 → 构成 → 评价与培养 → 创新能力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二、医学生信息素养要求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三、信息资源共享：概念、目标与原则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四、知识产权：概念、法律与保护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4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一、信息素养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第一章 第一节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5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信息、知识、情报、文献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信息：客观事物运动状态与特征的反映，普遍存在于自然界与人类社会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知识：人类对客观规律的认识与总结，是经过加工提炼的系统化信息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情报：为特定目的、经过传递而发挥作用的知识（针对性、时效性）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文献：记录有知识的一切载体——知识内容与物质载体的统一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四者关系：信息 ⊃ 知识 ⊃ 情报；文献是知识信息的记录载体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97880"/>
            <a:ext cx="11201400" cy="47548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/>
            <a:r>
              <a:rPr sz="1300" b="1">
                <a:solidFill>
                  <a:srgbClr val="B7791F"/>
                </a:solidFill>
                <a:latin typeface="微软雅黑"/>
              </a:rPr>
              <a:t>※ 辨析：信息最广，知识是深加工的信息，情报是激活的知识，文献是载体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信息素养的概念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1989年美国图书馆协会（ALA）最早系统界定信息素养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2015年2月，美国大学与研究图书馆协会（ACRL）通过《高等教育信息素养框架》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新定义：一组综合能力，包括——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对信息的反思性发现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对信息如何产生和评价的理解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利用信息创造新知识并合理参与学习团体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突破了传统“信息”范畴，强调批判性思维与知识创造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信息素养的构成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信息意识——灵魂：人们对信息的敏感程度与重要性的认识、态度和需求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信息知识——基础：信息源、检索工具、检索语言等基础知识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信息能力——核心：发现、获取、处理、利用、交流、创造信息的能力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信息道德——保障：信息活动中遵循的伦理规范与法律法规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四要素相互依存，共同决定个体利用信息解决问题的水平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信息能力与信息道德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信息能力＝利用信息解决问题的能力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信息查找与获取：确定信息源、选择工具、构造检索策略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信息加工与整理：筛选、分类、组织与管理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信息分析与评价：判断权威性、准确性、时效性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信息道德要求：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尊重知识产权，抵制抄袭剽窃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合理合法使用信息，注意隐私保护与信息安全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信息素养的评价标准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能确定所需信息的范围与类型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能高效地检索并获取所需信息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能批判性地评价信息及其来源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能有效地利用信息完成具体任务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能理解信息使用中的经济、法律与社会问题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评价是自我诊断的工具，也是培养目标的细化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信息素养的培养途径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大学新生培训：入馆教育、信息素养入门讲座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文献检索课：系统学习检索知识与技能（本课程即核心途径）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专题培训与讲座：数据库使用培训、学术规范专题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图书馆服务：参考咨询、学科服务、信息共享空间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自主实践：在课程作业、科研训练中反复运用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97880"/>
            <a:ext cx="11201400" cy="47548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/>
            <a:r>
              <a:rPr sz="1300" b="1">
                <a:solidFill>
                  <a:srgbClr val="B7791F"/>
                </a:solidFill>
                <a:latin typeface="微软雅黑"/>
              </a:rPr>
              <a:t>※ 培养途径相互补充，课堂教学 + 课外实践缺一不可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信息素养与创新能力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创新的基础是占有充分、准确的信息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信息素养为创新提供：问题发现的敏锐眼光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信息素养为创新提供：资料获取的高效手段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信息素养为创新提供：甄别评价的批判思维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创新过程＝信息获取 → 信息整合 → 知识重组 → 新知识创造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信息素养越高，发现空白、提出新问题的能力越强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医学生信息素养要求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树立信息意识：终身学习理念，跟踪医学前沿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掌握检索技能：熟练使用中外文医学数据库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具备评价能力：循证医学证据分级与评价意识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恪守信息道德：规范引用、尊重知识产权与患者隐私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服务临床与科研：快速获取诊疗证据、支撑课题研究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13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二、信息资源共享与知识产权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第一章 第二节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14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信息资源共享：概念与目标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概念：在特定范围（国家、地区、信息网络或有协议的机构）内，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在平等、自愿、互惠的基础上，通过馆际合作，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共同揭示、共同建立、共同利用信息资源，最大限度满足用户需求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现泛指各领域文字、数字、文化资源类目的分享与共用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目标：打破资源壁垒，提高资源利用率，避免重复建设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信息资源共享：原则与主要形式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自愿原则：参与方自主选择、自愿合作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平等原则：共享各方地位平等、权利义务对等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互惠原则：互利共赢，共享收益合理分配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主要形式：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协作采购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馆际互借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联机联合编目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网络咨询服务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知识产权：概念与类型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概念：人们就其智力劳动成果所依法享有的专有权利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又称“知识所属权”：国家赋予创造者一定时期内的专有权/独占权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两大类型：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著作权（版权）：文字著作、艺术作品等的专有权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工业产权：专利权、商标权、反不正当竞争等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双重属性：人身权（精神权利）＋财产权（财产所有权）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知识产权：法律体系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《中华人民共和国民法典》（知识产权条款）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《中华人民共和国著作权法》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《中华人民共和国专利法》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《中华人民共和国商标法》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《反不正当竞争法》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国际条约：《伯尔尼公约》《巴黎公约》、TRIPS协定等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知识产权：保护措施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法律保护：司法救济、行政查处、边境保护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自主保护：及时申请登记、保留创作证据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技术保护：数字版权管理（DRM）、访问控制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合理使用与法定许可：为学习、科研目的的有限使用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医学生视角：引用注明出处，不使用盗版软件与文献资源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基本概念：信息—知识—情报—文献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构成与培养：四要素 → 评价标准 → 培养途径 → 创新能力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医学生要求：意识、技能、评价、道德四位一体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资源共享：自愿、平等、互惠三原则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知识产权：著作权与工业产权，人身权与财产权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主线：会找信息 → 会用信息 → 守规范用信息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任务：让AI分别解释信息、知识、情报与文献四个概念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学生逐项对照教材定义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标出AI输出中的概念混淆、内容遗漏与无来源断言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形成“AI生成 → 教材核查 → 人工修订”完整记录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目的：体验AI辅助学习，同时建立“AI输出须核验”的意识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97880"/>
            <a:ext cx="11201400" cy="47548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/>
            <a:r>
              <a:rPr sz="1300" b="1">
                <a:solidFill>
                  <a:srgbClr val="B7791F"/>
                </a:solidFill>
                <a:latin typeface="微软雅黑"/>
              </a:rPr>
              <a:t>※ 本环节为教材外拓展，AI回答仅作讨论起点，不作答题依据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梳理信息、知识、情报、文献的关系（建议画关系图）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归纳信息素养的培养途径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说明信息资源共享原则及知识产权保护措施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AI拓展作业：提交一份AI概念解释与教材逐项核查表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22 /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本讲学习信息素养的概念、构成、评价与培养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明确了医学生信息素养的具体要求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认识了信息资源共享的自愿、平等、互惠原则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掌握了知识产权的概念、类型与保护措施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下一讲：学术规范与学术不端行为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23 /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909</Words>
  <Application>Microsoft Office PowerPoint</Application>
  <PresentationFormat>宽屏</PresentationFormat>
  <Paragraphs>194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sueivan</cp:lastModifiedBy>
  <cp:revision>2</cp:revision>
  <dcterms:created xsi:type="dcterms:W3CDTF">2013-01-27T09:14:16Z</dcterms:created>
  <dcterms:modified xsi:type="dcterms:W3CDTF">2026-09-03T05:23:54Z</dcterms:modified>
  <cp:category/>
</cp:coreProperties>
</file>