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12191695" cy="251460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01168"/>
            <a:ext cx="164592" cy="23134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718096"/>
                </a:solidFill>
                <a:latin typeface="微软雅黑"/>
              </a:rPr>
              <a:t>第三章 常用全文数据库的检索 · 第一节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196596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第 05 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999232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1E3A5F"/>
                </a:solidFill>
                <a:latin typeface="微软雅黑"/>
              </a:rPr>
              <a:t>中文全文数据库检索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224528"/>
            <a:ext cx="2926080" cy="406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2D3748"/>
                </a:solidFill>
                <a:latin typeface="微软雅黑"/>
              </a:rPr>
              <a:t>主讲：宁德师范学院医学院  苏裕盛  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普通高等教育医学类专业教材 · 科学出版社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718096"/>
                </a:solidFill>
                <a:latin typeface="微软雅黑"/>
              </a:rPr>
              <a:t>授课时数：2学时（45分钟 ×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本讲定位与导入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教材位置：第三章 常用全文数据库的检索 · 第一节 常用中文全文数据库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本讲对象：中国知网（CNKI）、万方知识服务平台、维普中文期刊服务平台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导入问题：查中文医学文献，三个平台怎么选？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统一学习线索：资源—检索入口—检索方法—结果处理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了解常用中文全文数据库的资源构成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掌握知网、万方、维普的检索方式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掌握检索结果显示、筛选与输出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教学重点与难点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重点一：中国知网的检索方法与运算符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重点二：万方知识服务平台的检索方法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重点三：维普中文期刊服务平台的检索方式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难点一：不同中文全文数据库检索方式的比较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难点二：检索条件组合及结果优化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3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本讲内容提纲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一、中国知网：资源、检索方法、结果处理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二、万方知识服务平台：资源、检索方法、结果处理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三、维普中文期刊服务平台：检索方式、结果处理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四、三库比较与检索示例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4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一、中国知网（CNKI）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国家知识基础设施工程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5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CNKI 概况与资源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CNKI：中国知网，国家知识基础设施（China National Knowledge Infrastructure）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目标：集成整合知识资源，建设传播扩散与增值服务平台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收录：期刊、学位论文、会议、报纸、年鉴、图书、专利、标准等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期刊总量万余种，回溯至世纪期刊（独家/独家授权期刊多）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网址：www.cnki.net（校园网IP范围内访问）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6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CNKI 检索方式总览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一框式检索：首页检索框，选择文献类型直接检索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高级检索：多字段组合，支持逻辑运算符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专业检索：用检索式检索（字段+运算符），面向查新与情报分析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作者发文检索：按作者及其单位检索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句子检索：全文范围内查找同时包含两词的句子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知识元检索 / 引文检索：面向事实与引文关系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7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CNKI 一框式检索与主题检索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一框式检索：输入检索词，可切换期刊/学位论文/会议等资源类型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主题检索（最常用）：在知网标引的主题字段中检索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主题字段包含一篇文章的所有主题特征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检索中嵌入专业词典、主题词表、中英对照词典、停用词表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其他字段：篇名、关键词、摘要、篇关摘、全文、作者、单位等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篇关摘检索：在篇名、关键词、摘要范围内检索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DOI检索：输入DOI定位期刊、学位论文、会议等文献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8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CNKI 高级检索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入口：首页检索框旁“高级检索”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多行检索框：字段 + 检索词 + 行间逻辑关系（AND/OR/NOT）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支持运算符：* (与)、+ (或)、- (非)，前后需空格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优先级用半角括号确定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可限定：发表时间、来源类别（核心期刊/SCI/EI等）、支持基金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切库区：界面下方点击库名，可切至某单库高级检索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教材示例：2015年以来核心期刊、国家自然科学基金支持的阿尔茨海默病治疗文献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9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CNKI 专业检索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适用：图书情报专业查新、信息分析等工作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一般流程：确定检索字段 → 构造检索式 → 执行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检索式一般式：&lt;字段&gt; &lt;匹配运算符&gt; &lt;检索值&gt;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匹配运算符：% 'str'（一致匹配）；% = *str*（相关匹配）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比较运算符：BETWEEN('str1','str2') 等限定范围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逻辑运算符：AND、OR、NOT（字段间逻辑）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复合运算符：表达复杂、高效的检索语句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10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CNKI 作者发文检索与句子检索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作者发文检索：切换“作者发文检索”标签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输入作者姓名及单位信息，检索某作者的发文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功能与操作和高级检索基本相同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句子检索：输入两个检索词，在全文中查找同时包含两词的句子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同句：两个词在同一句内（句号、问号、感叹号或省略号断句）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同段：两个词在同一段落内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用途：查找事实性问题的答案；不支持空检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11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CNKI 检索结果处理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结果浏览：列表模式（默认）/ 详情模式切换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结果显示：各资源类型分别显示命中文献量，可点击查看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结果上方显示检索范围与检索条件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个性化：主题定制服务、查看检索历史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筛选排序：按学科、发表时间、被引、下载等分组与排序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结果分析：计量可视化分析（发表年度、机构、作者等分布）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输出：导出题录（多种参考文献格式：GB/T 7714等）、打印、下载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12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二、万方知识服务平台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Wanfang Data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13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万方平台概况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万方数据：国内大型学术资源出版与服务机构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主要数据库：中国学术期刊数据库、中国学位论文全文数据库、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中外会议论文数据库、中外专利、中外标准、科技成果、中外科技报告等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特色：学位论文收录全，1980年以来博硕士学位论文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网址：www.wanfangdata.com.cn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14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万方检索方式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首页提供简单检索与高级检索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高级检索界面含3种方式：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高级检索：多字段组合+逻辑运算符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专业检索：编写检索表达式检索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作者发文检索：按作者检索其发文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注意：平台检索功能优化后不再支持运算符（* + ^）检索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请用大小写的 AND / OR / NOT 逻辑词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15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万方结果处理与检索示例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结果显示：按来源数据库分组显示命中量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筛选：按学科、年份、期刊等聚类筛选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输出：导出题录（含参考文献格式）、全文下载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教材示例一（高级检索）：二甲双胍、西格列汀与糖尿病治疗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主题概念：“二甲双胍”“西格列汀”“糖尿病”“治疗”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教材示例二：检索首都医科大学与军事科学院军事医学研究院合作发表的论文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提示：机构合作检索注意单位名称的规范写法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16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0604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8803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三、维普资讯中文期刊服务平台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 VIP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600"/>
              </a:spcAft>
            </a:pPr>
            <a:r>
              <a:rPr sz="1000" b="0">
                <a:solidFill>
                  <a:srgbClr val="9FB2C8"/>
                </a:solidFill>
                <a:latin typeface="微软雅黑"/>
              </a:rPr>
              <a:t>17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维普平台概况与检索方式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重庆维普资讯：中文期刊资源的专业服务商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收录：中文科技期刊量大，回溯久，部分独家期刊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检索方式：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基本检索：检索框输入检索词，选择字段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高级检索：多条件组合检索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600">
                <a:solidFill>
                  <a:srgbClr val="718096"/>
                </a:solidFill>
                <a:latin typeface="微软雅黑"/>
              </a:rPr>
              <a:t>· </a:t>
            </a:r>
            <a:r>
              <a:rPr sz="1600">
                <a:solidFill>
                  <a:srgbClr val="718096"/>
                </a:solidFill>
                <a:latin typeface="微软雅黑"/>
              </a:rPr>
              <a:t>期刊导航：按刊名、学科浏览期刊，可查某刊某期文献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18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维普结果处理与示例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结果显示：命中列表，可切换显示格式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二次检索：在结果中再次检索，缩小范围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聚类导航：按学科、年份、期刊等聚类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教材示例一（基本检索）：心肺复苏相关文献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教材示例二（高级检索）：《中华急诊医学杂志》2021年第1期心肺复苏文献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思路：限定来源期刊 + 年 + 期 + 主题词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19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三库比较：资源与检索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54498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中国知网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万方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维普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特色资源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期刊全、独家期刊多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学位论文收录全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中文科技期刊量大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检索入口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一框式/高级/专业/作者/句子/引文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简单/高级/专业/作者发文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基本/高级/期刊导航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498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逻辑运算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* + -（高级）AND/OR/NOT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AND/OR/NOT（不再支持* + ^）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AND/OR/NOT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498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结果特色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计量可视化分析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来源库分组筛选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二次检索+聚类导航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20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三库比较：结果处理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201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功能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知网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万方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</a:rPr>
                        <a:t>维普</a:t>
                      </a:r>
                    </a:p>
                  </a:txBody>
                  <a:tcPr marT="0" marB="0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分组筛选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学科/年度/来源等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学科/年份/来源库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学科/年份/期刊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排序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相关度/被引/下载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相关度/时间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相关度/时间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题录导出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支持（多种格式）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支持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支持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全文格式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CAJ/PDF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PDF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PDF</a:t>
                      </a:r>
                    </a:p>
                  </a:txBody>
                  <a:tcPr marT="0" marB="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D3748"/>
                          </a:solidFill>
                          <a:latin typeface="微软雅黑"/>
                        </a:rPr>
                        <a:t>个性化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主题定制/检索历史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个人空间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718096"/>
                          </a:solidFill>
                          <a:latin typeface="微软雅黑"/>
                        </a:rPr>
                        <a:t>个人空间</a:t>
                      </a:r>
                    </a:p>
                  </a:txBody>
                  <a:tcPr marT="0" marB="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035040"/>
            <a:ext cx="11201400" cy="4114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 wrap="square"/>
          <a:lstStyle/>
          <a:p>
            <a:pPr algn="ctr"/>
            <a:r>
              <a:rPr sz="1250" b="1">
                <a:solidFill>
                  <a:srgbClr val="B7791F"/>
                </a:solidFill>
                <a:latin typeface="微软雅黑"/>
              </a:rPr>
              <a:t>※ 实际使用以各平台当前界面为准，功能会持续升级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21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课堂梳理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知网：资源最全，检索方式最丰富，期刊文献首选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万方：学位论文特色，查博硕论文优先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维普：中文科技期刊补充，期刊导航好用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共同框架：资源—检索入口—检索方法—结果处理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选库策略：先明确文献类型，再选平台，必要时多库互补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22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AI赋能拓展（教材外）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任务：围绕同一主题，让AI提出中文检索词与字段组合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分别转换为知网、万方、维普三平台的检索方案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以三个平台的实际检索规则和检索结果校正AI方案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重点核验：字段名是否正确、运算符是否符合该库语法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形成三平台检索方案对照表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23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分别整理知网、万方、维普的检索方式（列表）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比较三者的检索结果处理功能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上机：完成“心肌损伤标志物”主题在三库的检索对比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AI拓展作业：完成同一主题在知网、万方、维普的AI辅助检索方案对照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24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8686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502920"/>
            <a:ext cx="640080" cy="381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1">
                <a:solidFill>
                  <a:srgbClr val="1E3A5F"/>
                </a:solidFill>
                <a:latin typeface="微软雅黑"/>
              </a:rPr>
              <a:t>课程小结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68680"/>
            <a:ext cx="12191695" cy="15240"/>
          </a:xfrm>
          <a:prstGeom prst="rect">
            <a:avLst/>
          </a:prstGeom>
          <a:solidFill>
            <a:srgbClr val="E8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201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本讲学习了中国知网、万方、维普的检索方式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掌握了三库的检索结果处理功能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梳理了教材检索示例的操作顺序</a:t>
            </a:r>
          </a:p>
          <a:p>
            <a:pPr>
              <a:lnSpc>
                <a:spcPct val="122000"/>
              </a:lnSpc>
              <a:spcAft>
                <a:spcPts val="700"/>
              </a:spcAft>
            </a:pPr>
            <a:r>
              <a:rPr sz="1900" b="1">
                <a:solidFill>
                  <a:srgbClr val="B7791F"/>
                </a:solidFill>
                <a:latin typeface="微软雅黑"/>
              </a:rPr>
              <a:t>▍ </a:t>
            </a:r>
            <a:r>
              <a:rPr sz="1900" b="0">
                <a:solidFill>
                  <a:srgbClr val="2D3748"/>
                </a:solidFill>
                <a:latin typeface="微软雅黑"/>
              </a:rPr>
              <a:t>下一讲：常用外文全文数据库（EBSCOhost/SpringerLink/ScienceDirect/ProQuest）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55664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718096"/>
                </a:solidFill>
                <a:latin typeface="微软雅黑"/>
              </a:rPr>
              <a:t>医学文献检索实践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718096"/>
                </a:solidFill>
                <a:latin typeface="微软雅黑"/>
              </a:rPr>
              <a:t>25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651760"/>
            <a:ext cx="1005840" cy="4445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/>
              </a:rPr>
              <a:t>谢谢聆听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>
                <a:solidFill>
                  <a:srgbClr val="C8D4E4"/>
                </a:solidFill>
                <a:latin typeface="微软雅黑"/>
              </a:rPr>
              <a:t>医学文献检索实践 · 宁德师范学院医学院  苏裕盛  教授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